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4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PAR 30 &amp; FPD Rate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 30 Rate (%)</c:v>
                </c:pt>
              </c:strCache>
            </c:strRef>
          </c:tx>
          <c:spPr>
            <a:ln w="3175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Jan-25</c:v>
                </c:pt>
                <c:pt idx="1">
                  <c:v>Mar-25</c:v>
                </c:pt>
                <c:pt idx="2">
                  <c:v>Jun-25</c:v>
                </c:pt>
                <c:pt idx="3">
                  <c:v>Sep-25</c:v>
                </c:pt>
                <c:pt idx="4">
                  <c:v>Dec-25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22.9</c:v>
                </c:pt>
                <c:pt idx="1">
                  <c:v>28.3</c:v>
                </c:pt>
                <c:pt idx="2">
                  <c:v>29.9</c:v>
                </c:pt>
                <c:pt idx="3">
                  <c:v>32.799999999999997</c:v>
                </c:pt>
                <c:pt idx="4">
                  <c:v>32.799999999999997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CE-4C59-BCD2-5ED902A0EB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FPD Rate (%)</c:v>
                </c:pt>
              </c:strCache>
            </c:strRef>
          </c:tx>
          <c:spPr>
            <a:ln w="3175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Jan-25</c:v>
                </c:pt>
                <c:pt idx="1">
                  <c:v>Mar-25</c:v>
                </c:pt>
                <c:pt idx="2">
                  <c:v>Jun-25</c:v>
                </c:pt>
                <c:pt idx="3">
                  <c:v>Sep-25</c:v>
                </c:pt>
                <c:pt idx="4">
                  <c:v>Dec-25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8.6</c:v>
                </c:pt>
                <c:pt idx="1">
                  <c:v>8.6</c:v>
                </c:pt>
                <c:pt idx="2">
                  <c:v>8.1</c:v>
                </c:pt>
                <c:pt idx="3">
                  <c:v>7.9</c:v>
                </c:pt>
                <c:pt idx="4">
                  <c:v>8.3000000000000007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0CE-4C59-BCD2-5ED902A0EB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Arrears Ratio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Arrears / Closing Balance (%)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Jan-25</c:v>
                </c:pt>
                <c:pt idx="1">
                  <c:v>Mar-25</c:v>
                </c:pt>
                <c:pt idx="2">
                  <c:v>Jun-25</c:v>
                </c:pt>
                <c:pt idx="3">
                  <c:v>Sep-25</c:v>
                </c:pt>
                <c:pt idx="4">
                  <c:v>Dec-25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42.67</c:v>
                </c:pt>
                <c:pt idx="1">
                  <c:v>46.77</c:v>
                </c:pt>
                <c:pt idx="2">
                  <c:v>47.13</c:v>
                </c:pt>
                <c:pt idx="3">
                  <c:v>48.19</c:v>
                </c:pt>
                <c:pt idx="4">
                  <c:v>45.55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79-4180-91C0-CB77B3CFBD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Account Count by Status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</c:v>
                </c:pt>
              </c:strCache>
            </c:strRef>
          </c:tx>
          <c:spPr>
            <a:solidFill>
              <a:srgbClr val="1ABC9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Jan-25</c:v>
                </c:pt>
                <c:pt idx="1">
                  <c:v>Mar-25</c:v>
                </c:pt>
                <c:pt idx="2">
                  <c:v>Jun-25</c:v>
                </c:pt>
                <c:pt idx="3">
                  <c:v>Sep-25</c:v>
                </c:pt>
                <c:pt idx="4">
                  <c:v>Dec-25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3891</c:v>
                </c:pt>
                <c:pt idx="1">
                  <c:v>4216</c:v>
                </c:pt>
                <c:pt idx="2">
                  <c:v>4939</c:v>
                </c:pt>
                <c:pt idx="3">
                  <c:v>5373</c:v>
                </c:pt>
                <c:pt idx="4">
                  <c:v>5972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BC-49C5-AFC2-621653A7CF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 30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Jan-25</c:v>
                </c:pt>
                <c:pt idx="1">
                  <c:v>Mar-25</c:v>
                </c:pt>
                <c:pt idx="2">
                  <c:v>Jun-25</c:v>
                </c:pt>
                <c:pt idx="3">
                  <c:v>Sep-25</c:v>
                </c:pt>
                <c:pt idx="4">
                  <c:v>Dec-25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1622</c:v>
                </c:pt>
                <c:pt idx="1">
                  <c:v>2345</c:v>
                </c:pt>
                <c:pt idx="2">
                  <c:v>2946</c:v>
                </c:pt>
                <c:pt idx="3">
                  <c:v>3752</c:v>
                </c:pt>
                <c:pt idx="4">
                  <c:v>4470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BC-49C5-AFC2-621653A7CF3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Paid Off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Jan-25</c:v>
                </c:pt>
                <c:pt idx="1">
                  <c:v>Mar-25</c:v>
                </c:pt>
                <c:pt idx="2">
                  <c:v>Jun-25</c:v>
                </c:pt>
                <c:pt idx="3">
                  <c:v>Sep-25</c:v>
                </c:pt>
                <c:pt idx="4">
                  <c:v>Dec-25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1261</c:v>
                </c:pt>
                <c:pt idx="1">
                  <c:v>1913</c:v>
                </c:pt>
                <c:pt idx="2">
                  <c:v>2865</c:v>
                </c:pt>
                <c:pt idx="3">
                  <c:v>4025</c:v>
                </c:pt>
                <c:pt idx="4">
                  <c:v>5349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BC-49C5-AFC2-621653A7CF3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BDC3C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Jan-25</c:v>
                </c:pt>
                <c:pt idx="1">
                  <c:v>Mar-25</c:v>
                </c:pt>
                <c:pt idx="2">
                  <c:v>Jun-25</c:v>
                </c:pt>
                <c:pt idx="3">
                  <c:v>Sep-25</c:v>
                </c:pt>
                <c:pt idx="4">
                  <c:v>Dec-25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2161</c:v>
                </c:pt>
                <c:pt idx="1">
                  <c:v>2550</c:v>
                </c:pt>
                <c:pt idx="2">
                  <c:v>3141</c:v>
                </c:pt>
                <c:pt idx="3">
                  <c:v>3714</c:v>
                </c:pt>
                <c:pt idx="4">
                  <c:v>4951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7BC-49C5-AFC2-621653A7CF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Avg Days Past Due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DPD (arrears accounts)</c:v>
                </c:pt>
              </c:strCache>
            </c:strRef>
          </c:tx>
          <c:spPr>
            <a:ln w="3175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Jan-25</c:v>
                </c:pt>
                <c:pt idx="1">
                  <c:v>Mar-25</c:v>
                </c:pt>
                <c:pt idx="2">
                  <c:v>Jun-25</c:v>
                </c:pt>
                <c:pt idx="3">
                  <c:v>Sep-25</c:v>
                </c:pt>
                <c:pt idx="4">
                  <c:v>Dec-25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170.5</c:v>
                </c:pt>
                <c:pt idx="1">
                  <c:v>204.8</c:v>
                </c:pt>
                <c:pt idx="2">
                  <c:v>240.4</c:v>
                </c:pt>
                <c:pt idx="3">
                  <c:v>271.10000000000002</c:v>
                </c:pt>
                <c:pt idx="4">
                  <c:v>283.10000000000002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3A9-41ED-BB2A-555A424043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PAR 30 Rate by Age Band (Dec 2025)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 30 Rate (%)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465-483A-8438-A9AD2329B758}"/>
              </c:ext>
            </c:extLst>
          </c:dPt>
          <c:dPt>
            <c:idx val="1"/>
            <c:invertIfNegative val="0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465-483A-8438-A9AD2329B758}"/>
              </c:ext>
            </c:extLst>
          </c:dPt>
          <c:dPt>
            <c:idx val="2"/>
            <c:invertIfNegative val="0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465-483A-8438-A9AD2329B758}"/>
              </c:ext>
            </c:extLst>
          </c:dPt>
          <c:dPt>
            <c:idx val="3"/>
            <c:invertIfNegative val="0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465-483A-8438-A9AD2329B758}"/>
              </c:ext>
            </c:extLst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465-483A-8438-A9AD2329B758}"/>
              </c:ext>
            </c:extLst>
          </c:dPt>
          <c:dPt>
            <c:idx val="5"/>
            <c:invertIfNegative val="0"/>
            <c:bubble3D val="0"/>
            <c:spPr>
              <a:solidFill>
                <a:srgbClr val="7F8C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465-483A-8438-A9AD2329B75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18–25</c:v>
                </c:pt>
                <c:pt idx="1">
                  <c:v>26–35</c:v>
                </c:pt>
                <c:pt idx="2">
                  <c:v>36–45</c:v>
                </c:pt>
                <c:pt idx="3">
                  <c:v>46–55</c:v>
                </c:pt>
                <c:pt idx="4">
                  <c:v>55+</c:v>
                </c:pt>
                <c:pt idx="5">
                  <c:v>Ptf Avg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21.3</c:v>
                </c:pt>
                <c:pt idx="1">
                  <c:v>18.899999999999999</c:v>
                </c:pt>
                <c:pt idx="2">
                  <c:v>16.600000000000001</c:v>
                </c:pt>
                <c:pt idx="3">
                  <c:v>16.600000000000001</c:v>
                </c:pt>
                <c:pt idx="4">
                  <c:v>24.8</c:v>
                </c:pt>
                <c:pt idx="5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465-483A-8438-A9AD2329B7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FPD Rate by Age Band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FPD Rate (%)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18–25</c:v>
                </c:pt>
                <c:pt idx="1">
                  <c:v>26–35</c:v>
                </c:pt>
                <c:pt idx="2">
                  <c:v>36–45</c:v>
                </c:pt>
                <c:pt idx="3">
                  <c:v>46–55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6.6</c:v>
                </c:pt>
                <c:pt idx="2">
                  <c:v>5.5</c:v>
                </c:pt>
                <c:pt idx="3">
                  <c:v>4</c:v>
                </c:pt>
                <c:pt idx="4">
                  <c:v>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FF-452B-87D2-DE168975E8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Net NPS Score by Account Status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NPS Score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2E3-40CC-BFEB-3D0EB8135154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2E3-40CC-BFEB-3D0EB8135154}"/>
              </c:ext>
            </c:extLst>
          </c:dPt>
          <c:dPt>
            <c:idx val="2"/>
            <c:invertIfNegative val="0"/>
            <c:bubble3D val="0"/>
            <c:spPr>
              <a:solidFill>
                <a:srgbClr val="7F8C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2E3-40CC-BFEB-3D0EB8135154}"/>
              </c:ext>
            </c:extLst>
          </c:dPt>
          <c:dPt>
            <c:idx val="3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2E3-40CC-BFEB-3D0EB8135154}"/>
              </c:ext>
            </c:extLst>
          </c:dPt>
          <c:dPt>
            <c:idx val="4"/>
            <c:invertIfNegative val="0"/>
            <c:bubble3D val="0"/>
            <c:spPr>
              <a:solidFill>
                <a:srgbClr val="1AB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2E3-40CC-BFEB-3D0EB8135154}"/>
              </c:ext>
            </c:extLst>
          </c:dPt>
          <c:dPt>
            <c:idx val="5"/>
            <c:invertIfNegative val="0"/>
            <c:bubble3D val="0"/>
            <c:spPr>
              <a:solidFill>
                <a:srgbClr val="1AB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2E3-40CC-BFEB-3D0EB8135154}"/>
              </c:ext>
            </c:extLst>
          </c:dPt>
          <c:dPt>
            <c:idx val="6"/>
            <c:invertIfNegative val="0"/>
            <c:bubble3D val="0"/>
            <c:spPr>
              <a:solidFill>
                <a:srgbClr val="1AB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2E3-40CC-BFEB-3D0EB8135154}"/>
              </c:ext>
            </c:extLst>
          </c:dPt>
          <c:dPt>
            <c:idx val="7"/>
            <c:invertIfNegative val="0"/>
            <c:bubble3D val="0"/>
            <c:spPr>
              <a:solidFill>
                <a:srgbClr val="1AB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2E3-40CC-BFEB-3D0EB813515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Return</c:v>
                </c:pt>
                <c:pt idx="1">
                  <c:v>FMD</c:v>
                </c:pt>
                <c:pt idx="2">
                  <c:v>Inactive</c:v>
                </c:pt>
                <c:pt idx="3">
                  <c:v>PAR 30</c:v>
                </c:pt>
                <c:pt idx="4">
                  <c:v>Active</c:v>
                </c:pt>
                <c:pt idx="5">
                  <c:v>Paid Off</c:v>
                </c:pt>
                <c:pt idx="6">
                  <c:v>PAR 7</c:v>
                </c:pt>
                <c:pt idx="7">
                  <c:v>FPD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-46.8</c:v>
                </c:pt>
                <c:pt idx="1">
                  <c:v>8.3000000000000007</c:v>
                </c:pt>
                <c:pt idx="2">
                  <c:v>6.1</c:v>
                </c:pt>
                <c:pt idx="3">
                  <c:v>4.9000000000000004</c:v>
                </c:pt>
                <c:pt idx="4">
                  <c:v>11.3</c:v>
                </c:pt>
                <c:pt idx="5">
                  <c:v>13.4</c:v>
                </c:pt>
                <c:pt idx="6">
                  <c:v>17.3</c:v>
                </c:pt>
                <c:pt idx="7">
                  <c:v>24.2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2E3-40CC-BFEB-3D0EB81351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735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tx1">
                    <a:lumMod val="7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361073"/>
      </p:ext>
    </p:extLst>
  </p:cSld>
  <p:clrMapOvr>
    <a:masterClrMapping/>
  </p:clrMapOvr>
  <p:transition spd="slow">
    <p:cover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777287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972051"/>
      </p:ext>
    </p:extLst>
  </p:cSld>
  <p:clrMapOvr>
    <a:masterClrMapping/>
  </p:clrMapOvr>
  <p:transition spd="slow">
    <p:cover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21423"/>
            <a:ext cx="7763814" cy="2052614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743093"/>
            <a:ext cx="7763814" cy="102613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086923"/>
      </p:ext>
    </p:extLst>
  </p:cSld>
  <p:clrMapOvr>
    <a:masterClrMapping/>
  </p:clrMapOvr>
  <p:transition spd="slow">
    <p:cover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382952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1775320"/>
            <a:ext cx="382905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873808"/>
      </p:ext>
    </p:extLst>
  </p:cSld>
  <p:clrMapOvr>
    <a:masterClrMapping/>
  </p:clrMapOvr>
  <p:transition spd="slow">
    <p:cover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1778263"/>
            <a:ext cx="3655106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2288260"/>
            <a:ext cx="3829520" cy="205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1778263"/>
            <a:ext cx="3661353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2288260"/>
            <a:ext cx="3829051" cy="205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973700"/>
      </p:ext>
    </p:extLst>
  </p:cSld>
  <p:clrMapOvr>
    <a:masterClrMapping/>
  </p:clrMapOvr>
  <p:transition spd="slow">
    <p:cover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47519"/>
      </p:ext>
    </p:extLst>
  </p:cSld>
  <p:clrMapOvr>
    <a:masterClrMapping/>
  </p:clrMapOvr>
  <p:transition spd="slow">
    <p:cover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311020"/>
      </p:ext>
    </p:extLst>
  </p:cSld>
  <p:clrMapOvr>
    <a:masterClrMapping/>
  </p:clrMapOvr>
  <p:transition spd="slow">
    <p:cover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2951766" cy="151743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457201"/>
            <a:ext cx="4650122" cy="3886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1974639"/>
            <a:ext cx="2951767" cy="2368761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137766"/>
      </p:ext>
    </p:extLst>
  </p:cSld>
  <p:clrMapOvr>
    <a:masterClrMapping/>
  </p:clrMapOvr>
  <p:transition spd="slow">
    <p:cover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4451227" cy="1517441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2" y="457201"/>
            <a:ext cx="2441519" cy="38862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1974639"/>
            <a:ext cx="4451212" cy="2368760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815626"/>
      </p:ext>
    </p:extLst>
  </p:cSld>
  <p:clrMapOvr>
    <a:masterClrMapping/>
  </p:clrMapOvr>
  <p:transition spd="slow">
    <p:cover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3217030"/>
            <a:ext cx="7773324" cy="60870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523696"/>
            <a:ext cx="7366899" cy="2410602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831546"/>
            <a:ext cx="7773339" cy="511854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909666"/>
      </p:ext>
    </p:extLst>
  </p:cSld>
  <p:clrMapOvr>
    <a:masterClrMapping/>
  </p:clrMapOvr>
  <p:transition spd="slow">
    <p:cover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2570434"/>
          </a:xfrm>
        </p:spPr>
        <p:txBody>
          <a:bodyPr anchor="ctr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153616"/>
            <a:ext cx="7773339" cy="1189785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316480"/>
      </p:ext>
    </p:extLst>
  </p:cSld>
  <p:clrMapOvr>
    <a:masterClrMapping/>
  </p:clrMapOvr>
  <p:transition spd="slow">
    <p:cover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4460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279597"/>
            <a:ext cx="7773339" cy="10657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51116" y="56562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169" y="22451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6189306"/>
      </p:ext>
    </p:extLst>
  </p:cSld>
  <p:clrMapOvr>
    <a:masterClrMapping/>
  </p:clrMapOvr>
  <p:transition spd="slow">
    <p:cover/>
  </p:transition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604041"/>
            <a:ext cx="7773339" cy="1883876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496751"/>
            <a:ext cx="777333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891342"/>
      </p:ext>
    </p:extLst>
  </p:cSld>
  <p:clrMapOvr>
    <a:masterClrMapping/>
  </p:clrMapOvr>
  <p:transition spd="slow">
    <p:cover/>
  </p:transition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1203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2474232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207517"/>
            <a:ext cx="2474232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1775320"/>
            <a:ext cx="246864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207517"/>
            <a:ext cx="2477513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775320"/>
            <a:ext cx="24786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207517"/>
            <a:ext cx="2478696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072054"/>
      </p:ext>
    </p:extLst>
  </p:cSld>
  <p:clrMapOvr>
    <a:masterClrMapping/>
  </p:clrMapOvr>
  <p:transition spd="slow">
    <p:cover/>
  </p:transition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458079"/>
            <a:ext cx="7773339" cy="12029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3153615"/>
            <a:ext cx="247230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1775320"/>
            <a:ext cx="2472307" cy="1143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3585811"/>
            <a:ext cx="2472307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3153615"/>
            <a:ext cx="247637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1775320"/>
            <a:ext cx="2477514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85811"/>
            <a:ext cx="2477514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3153615"/>
            <a:ext cx="247551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1775320"/>
            <a:ext cx="2478696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3585809"/>
            <a:ext cx="2478790" cy="757591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8381"/>
      </p:ext>
    </p:extLst>
  </p:cSld>
  <p:clrMapOvr>
    <a:masterClrMapping/>
  </p:clrMapOvr>
  <p:transition spd="slow">
    <p:cover/>
  </p:transition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1775320"/>
            <a:ext cx="7773339" cy="2568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183156"/>
      </p:ext>
    </p:extLst>
  </p:cSld>
  <p:clrMapOvr>
    <a:masterClrMapping/>
  </p:clrMapOvr>
  <p:transition spd="slow">
    <p:cover/>
  </p:transition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1"/>
            <a:ext cx="1914995" cy="38861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457201"/>
            <a:ext cx="5744043" cy="3886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875657"/>
      </p:ext>
    </p:extLst>
  </p:cSld>
  <p:clrMapOvr>
    <a:masterClrMapping/>
  </p:clrMapOvr>
  <p:transition spd="slow">
    <p:cover/>
  </p:transition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737898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7773339" cy="256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4412457"/>
            <a:ext cx="50046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7316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5361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5" r:id="rId1"/>
    <p:sldLayoutId id="2147483946" r:id="rId2"/>
    <p:sldLayoutId id="2147483947" r:id="rId3"/>
    <p:sldLayoutId id="2147483948" r:id="rId4"/>
    <p:sldLayoutId id="2147483949" r:id="rId5"/>
    <p:sldLayoutId id="2147483950" r:id="rId6"/>
    <p:sldLayoutId id="2147483951" r:id="rId7"/>
    <p:sldLayoutId id="2147483952" r:id="rId8"/>
    <p:sldLayoutId id="2147483953" r:id="rId9"/>
    <p:sldLayoutId id="2147483954" r:id="rId10"/>
    <p:sldLayoutId id="2147483955" r:id="rId11"/>
    <p:sldLayoutId id="2147483956" r:id="rId12"/>
    <p:sldLayoutId id="2147483957" r:id="rId13"/>
    <p:sldLayoutId id="2147483958" r:id="rId14"/>
    <p:sldLayoutId id="2147483959" r:id="rId15"/>
    <p:sldLayoutId id="2147483960" r:id="rId16"/>
    <p:sldLayoutId id="2147483961" r:id="rId17"/>
    <p:sldLayoutId id="2147483962" r:id="rId18"/>
  </p:sldLayoutIdLst>
  <p:transition spd="slow">
    <p:cover/>
  </p:transition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MoPhones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Portfolio Analysis - 2025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841248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Peterson Mutegi: Data Analyst - Product &amp; Credit | Case Study Submission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3017520"/>
            <a:ext cx="196596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3108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20,742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Size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40050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(Dec 2025)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3017520"/>
            <a:ext cx="196596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3108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32.8%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30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40050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+10pp YTD growth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3017520"/>
            <a:ext cx="196596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3108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40050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positive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3017520"/>
            <a:ext cx="196596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12280" y="3108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-46.8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1228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NPS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40050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pain point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02920" cy="5486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51560" y="1051560"/>
            <a:ext cx="7635240" cy="5486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Assumptions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banding, income computation, field derivations and key caveats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486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51560" y="1828800"/>
            <a:ext cx="7635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18745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1031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metrics across 5 quarterly snapshots; trend &amp; segment analysis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502920" cy="5486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6060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51560" y="2606040"/>
            <a:ext cx="7635240" cy="5486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88720" y="2651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Performance × Customer Experience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8803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linkage to credit status, phone-lock tension, and one concrete recommendation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502920" cy="5486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51560" y="3383280"/>
            <a:ext cx="7635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88720" y="34290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Recommendations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6576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structural improvements to support repeatable monitoring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502920" cy="5486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51560" y="4160520"/>
            <a:ext cx="7635240" cy="5486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88720" y="42062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ERD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44348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these datasets should be structured for ongoing analytics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  Data Preparation &amp; Assumptions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393192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Derived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calculated vs each snapshot date from DOB (TransUnion). Banded: 18-25 | 26-35 | 36-45 | 46-55 | 55+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2219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450592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'Received' ÷ Duration (months). Banded from &lt;5K to 150K+ (KES). Assumption: 'Received' = gross inflows; Duration = statement months.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302666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30 Rate: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25526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30 count ÷ non-Paid-Off, non-Return accounts. Portfolio denominator excludes closed books.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38313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Score: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05993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formula: (Promoters − Detractors) / Total × 100. 9-10 = Promoter, 7-8 = Passive, 0-6 = Detractor.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868680"/>
            <a:ext cx="4069080" cy="3931920"/>
          </a:xfrm>
          <a:prstGeom prst="rect">
            <a:avLst/>
          </a:prstGeom>
          <a:solidFill>
            <a:srgbClr val="FEF9E7"/>
          </a:solidFill>
          <a:ln w="12700">
            <a:solidFill>
              <a:srgbClr val="FAD7A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54880" y="960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Linkage Quality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Snapshots: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quarterly files, 8,935-20,742 rows. LOAN_ID as primary key.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2093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Demographics: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3225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20,747 sales records. Gender, DOB, Income in separate sheets.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7706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Match Rate: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9992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~51% of Dec credit accounts linked to demographic data - limiting segment precision.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34472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Data: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6758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4,129 responses. 100% linked to credit via Loan Id. Date range: ~Apr 2025.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41239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Linkage: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435254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~57% of accounts have income data (11,885/20,747). Duration varies 1-24m.</a:t>
            </a:r>
            <a:endParaRPr lang="en-US" sz="900" dirty="0"/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Portfolio Health: 5 Metrics Across 5 Snapshots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731520"/>
          <a:ext cx="530352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5760720" y="731520"/>
          <a:ext cx="32918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2"/>
          <p:cNvGraphicFramePr/>
          <p:nvPr>
            <p:extLst>
              <p:ext uri="{D42A27DB-BD31-4B8C-83A1-F6EECF244321}">
                <p14:modId xmlns:p14="http://schemas.microsoft.com/office/powerpoint/2010/main" val="1227787012"/>
              </p:ext>
            </p:extLst>
          </p:nvPr>
        </p:nvGraphicFramePr>
        <p:xfrm>
          <a:off x="365760" y="3200400"/>
          <a:ext cx="530352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Chart 3"/>
          <p:cNvGraphicFramePr/>
          <p:nvPr/>
        </p:nvGraphicFramePr>
        <p:xfrm>
          <a:off x="5760720" y="3200400"/>
          <a:ext cx="32918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" name="Text 2"/>
          <p:cNvSpPr/>
          <p:nvPr/>
        </p:nvSpPr>
        <p:spPr>
          <a:xfrm>
            <a:off x="502920" y="4773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30 grew from 22.9% to 32.8% (+10 pp). Avg DPD up 66% from 170 → 283 days. Arrears stabilised near 46% in H2 - but remains structurally high.</a:t>
            </a:r>
            <a:endParaRPr lang="en-US" sz="950" dirty="0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  Why These 5 Metrics?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1148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8229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30 Rate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0789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global credit KPI. &gt;30% is a material risk threshold; compares directly to microfinance industry benchmarks.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223760" y="91440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DEDEC"/>
          </a:solidFill>
          <a:ln w="12700">
            <a:solidFill>
              <a:srgbClr val="F1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23760" y="9144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22.9% → 32.8%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581912"/>
            <a:ext cx="41148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581912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6276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Payment Default (FPD)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88366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underwriting failures at origination;  did the customer ever intend to pay? Stable ~8% suggests acquisition risk is embedded, not worsening.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223760" y="1719072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23760" y="17190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Stable ~8%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386584"/>
            <a:ext cx="41148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386584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3230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Arrears Ratio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68833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impairment depth of the portfolio. At ~46%, roughly half the outstanding book is in arrears; operationally critical for provisioning.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23760" y="2523744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DEDEC"/>
          </a:solidFill>
          <a:ln w="12700">
            <a:solidFill>
              <a:srgbClr val="F1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3760" y="252374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42.7% → 48.2%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191256"/>
            <a:ext cx="41148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191256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23697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Days Past Due (arrears accounts)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4930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collection lag. A rise from 170 → 283 days signals that chronic defaulters are being rolled forward rather than resolved.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23760" y="3328416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DEDEC"/>
          </a:solidFill>
          <a:ln w="12700">
            <a:solidFill>
              <a:srgbClr val="F1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223760" y="332841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170 → 283 days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3995928"/>
            <a:ext cx="41148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995928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0120" y="40416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42976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represent double losses: the device is recovered but the loan relationship ends. Rising returns signal satisfaction or affordability failures.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23760" y="4133088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FDEDEC"/>
          </a:solidFill>
          <a:ln w="12700">
            <a:solidFill>
              <a:srgbClr val="F194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23760" y="41330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604 → 1,744 accounts</a:t>
            </a:r>
            <a:endParaRPr lang="en-US" sz="850" dirty="0"/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  Segment Spotlight: 18-25 Age Group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749808"/>
          <a:ext cx="48463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5303520" y="749808"/>
          <a:ext cx="34747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365760" y="3337560"/>
            <a:ext cx="8412480" cy="1508760"/>
          </a:xfrm>
          <a:prstGeom prst="rect">
            <a:avLst/>
          </a:prstGeom>
          <a:solidFill>
            <a:srgbClr val="FDEDEC"/>
          </a:solidFill>
          <a:ln w="12700">
            <a:solidFill>
              <a:srgbClr val="F1948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Operationally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379476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18-25-year-olds have the highest PAR 30 (21.3%) and FPD (7.0%) among tracked cohorts. The 55+ cohort also shows elevated PAR 30 (24.8%) but is small in volume (113 accounts). Practically: younger customers may underestimate weekly repayment obligations, or experience income volatility. </a:t>
            </a:r>
          </a:p>
          <a:p>
            <a:pPr marL="0" indent="0">
              <a:buNone/>
            </a:pPr>
            <a:endParaRPr lang="en-US" sz="1000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Apply stricter deposit requirements or shorter initial terms for 18-25 applicants; build a financial literacy touch-point at onboarding.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  Credit Performance × Customer Experience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201168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+5.9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NPS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5270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positive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14600" y="749808"/>
            <a:ext cx="201168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14600" y="8046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41.3%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14600" y="12984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15270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9-10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749808"/>
            <a:ext cx="201168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8046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35.6%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2984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Detractors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15270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0-6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12280" y="749808"/>
            <a:ext cx="201168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6EAF8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12280" y="8046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12280" y="12984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12280" y="15270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7-8</a:t>
            </a:r>
            <a:endParaRPr lang="en-US" sz="85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65760" y="192024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5577840" y="1920240"/>
            <a:ext cx="3200400" cy="868680"/>
          </a:xfrm>
          <a:prstGeom prst="rect">
            <a:avLst/>
          </a:prstGeom>
          <a:solidFill>
            <a:srgbClr val="FDEDEC"/>
          </a:solidFill>
          <a:ln w="12700">
            <a:solidFill>
              <a:srgbClr val="F1948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715000" y="19842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 a CX catastrophe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715000" y="226771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NPS of -46.8 for Return accounts. 331 survey respondents. Over 68% are detractors.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577840" y="2898648"/>
            <a:ext cx="3200400" cy="868680"/>
          </a:xfrm>
          <a:prstGeom prst="rect">
            <a:avLst/>
          </a:prstGeom>
          <a:solidFill>
            <a:srgbClr val="FEF9E7"/>
          </a:solidFill>
          <a:ln w="12700">
            <a:solidFill>
              <a:srgbClr val="FAD7A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715000" y="29626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30 customers still score positively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715000" y="324612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NPS +4.9 suggests the collections contact hasn't destroyed the relationship - yet.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577840" y="3877056"/>
            <a:ext cx="3200400" cy="86868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715000" y="39410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13.6% locked despite paying on time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715000" y="422452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563 customers report phone locking after payment. This directly attacks trust and scores.</a:t>
            </a:r>
            <a:endParaRPr lang="en-US" sz="900" dirty="0"/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12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  The Core Tension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114800" cy="3200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Effectiveness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 30 at 32.8% requires active collections
• Phone-locking (PAYG model) is the primary collections tool
• Lock enforcement is necessary to motivate payment
• Arrears portfolio KSh 304M needs resolution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0624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3200400"/>
          </a:xfrm>
          <a:prstGeom prst="rect">
            <a:avLst/>
          </a:prstGeom>
          <a:solidFill>
            <a:srgbClr val="78281F"/>
          </a:solidFill>
          <a:ln w="12700">
            <a:solidFill>
              <a:srgbClr val="7828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868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3258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13.6% report phone locked despite on-time payment
• 17.5% experienced payment-reflection delays
• Return customers NPS = -46.8 (severe detractors)
• 15% had difficulty reaching customer support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4114800"/>
            <a:ext cx="8412480" cy="822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4169664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Implement a payment-reflection SLA with a 4-hour grace period before locking. If payment is logged but unprocessed within 4 hours, suppress the lock. Track 'lock-on-payment' as a separate operational KPI. This directly targets the 13.6% NPS detractor signal without undermining collections.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  Data Quality &amp; Limitations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57200" cy="6583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" y="777240"/>
            <a:ext cx="7680960" cy="6583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822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Gap </a:t>
            </a: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High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078992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~49% of credit accounts cannot be linked to demographic data. Gender, DOB, and income sheets have inconsistent Loan Id population. Age/income segment analyses are based on a sub-sample and may not represent portfolio-wide risk.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457200" cy="6583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58191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1581912"/>
            <a:ext cx="7680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16276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Definition Ambiguous </a:t>
            </a: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High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883664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'Received', 'Persons Received From Total', 'Banks Received', 'Paybills Received' overlap substantially. It is unclear whether Received is gross or net of the sub-components, making income computation unreliable for credit decisioning.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386584"/>
            <a:ext cx="457200" cy="6583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38658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2386584"/>
            <a:ext cx="7680960" cy="6583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3000" y="243230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Gaps </a:t>
            </a: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Medium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688336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quarterly snapshots exist but loan-level payment history is absent. We cannot observe month-by-month cure rates, roll rates, or seasonal delinquency patterns — critical for provisioning and collections strategy.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191256"/>
            <a:ext cx="457200" cy="6583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19125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3191256"/>
            <a:ext cx="7680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323697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Timing = </a:t>
            </a: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3493008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4,129 NPS responses are from a single campaign (~April 2025). This is a point-in-time survey, not a longitudinal one. NPS vs credit status cannot be attributed to causal direction - we cannot confirm whether bad credit causes low NPS or vice versa.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995928"/>
            <a:ext cx="457200" cy="65836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995928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05840" y="3995928"/>
            <a:ext cx="7680960" cy="65836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43000" y="40416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'Unknown' CUSTOMER_AGE Field = </a:t>
            </a: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4297680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CUSTOMER_AGE in the credit data is loan tenure in days, not borrower age. This naming is confusing. Borrower age had to be calculated separately from DOB.</a:t>
            </a:r>
            <a:endParaRPr lang="en-US" sz="850" dirty="0"/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  3 Structural Improvements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45720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05840" y="777240"/>
            <a:ext cx="7680960" cy="1280160"/>
          </a:xfrm>
          <a:prstGeom prst="rect">
            <a:avLst/>
          </a:prstGeom>
          <a:solidFill>
            <a:srgbClr val="EBF5FB"/>
          </a:solidFill>
          <a:ln w="12700">
            <a:solidFill>
              <a:srgbClr val="D7BDE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841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a Single Customer ID at Origination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Demographic sheets use Loan Id for some records and are blank for others. 49% linkage rate breaks segment analytics.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3000" y="1435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Assign a persistent CUSTOMER_ID at KYC. Link all downstream records (loans, income checks, NPS, devices) to this ID, not just the loan. This enables repeat-customer tracking and demographic enrichment.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3000" y="17556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Enables cohort retention analysis, income-band-level provisioning, and multi-loan risk profiling.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457200" cy="12801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2194560"/>
            <a:ext cx="7680960" cy="1280160"/>
          </a:xfrm>
          <a:prstGeom prst="rect">
            <a:avLst/>
          </a:prstGeom>
          <a:solidFill>
            <a:srgbClr val="F4ECF7"/>
          </a:solidFill>
          <a:ln w="12700">
            <a:solidFill>
              <a:srgbClr val="D7BDE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22585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Monthly Payment History (Not Just Snapshots)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560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5 quarterly snapshots cannot reveal roll rates (Active → PAR 7 → PAR 30), cure rates, or seasonal patterns. Avg DPD at 283 days suggests accounts stagnate.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3000" y="2852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Persist a monthly account_status_history table with one row per loan per month. Track: status, balance, payment, DPD, and any collections actions taken.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" y="3172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Enables vintage analysis, roll-rate matrices, and early-warning triggers for collections escalation.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457200" cy="128016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5840" y="3611880"/>
            <a:ext cx="7680960" cy="1280160"/>
          </a:xfrm>
          <a:prstGeom prst="rect">
            <a:avLst/>
          </a:prstGeom>
          <a:solidFill>
            <a:srgbClr val="EBF5FB"/>
          </a:solidFill>
          <a:ln w="12700">
            <a:solidFill>
              <a:srgbClr val="D7BDE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43000" y="36758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Income Fields with Clear Definitions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977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'Received' appears to overlap with 'Banks Received' + 'Paybills Received'. Duration is in months but not always consistent. Cannot reliably compute monthly income.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43000" y="4270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Define exactly: (a) gross inflows = Received, (b) verified_bank_income = Banks Received, (c) duration_months = integer. Add a single derived field: verified_monthly_income = verified_bank_income / duration_months.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43000" y="45902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Enables income-band risk scoring, credit limit calibration, and affordability assessment at underwriting.</a:t>
            </a:r>
            <a:endParaRPr lang="en-US" sz="850" dirty="0"/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Priorities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3075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91440" cy="130759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87782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Act on the PAR 30 trajectory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122529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30 grew from 22.9% → 32.8% in 12 months; this trajectory requires intervention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49961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 stable at ~8% signals an underwriting quality floor, not improvement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77393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DPD at 283 days means the stock of delinquency is ageing, not resolving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21992"/>
            <a:ext cx="8412480" cy="13075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221992"/>
            <a:ext cx="91440" cy="130759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29514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CX: Fix the phone-lock timing issue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264261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13.6% of customers report locking despite on-time payment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91693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accounts are the single largest CX failure (NPS -46.8)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19125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4-hour payment-reflection SLA before lock triggers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8412480" cy="13075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91440" cy="130759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71246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Build the foundation for repeatable analytics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405993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a single CUSTOMER_ID at onboarding across all systems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433425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monthly fact table; current snapshots cannot track roll rates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4608576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income fields to enable income-based credit scoring</a:t>
            </a:r>
            <a:endParaRPr lang="en-US" sz="950" dirty="0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197</TotalTime>
  <Words>1595</Words>
  <Application>Microsoft Office PowerPoint</Application>
  <PresentationFormat>On-screen Show (16:9)</PresentationFormat>
  <Paragraphs>170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MoPhones Credit Portfolio Analysis 2025</dc:title>
  <dc:subject>PptxGenJS Presentation</dc:subject>
  <dc:creator>PptxGenJS</dc:creator>
  <cp:lastModifiedBy>Peterson Mutegi</cp:lastModifiedBy>
  <cp:revision>3</cp:revision>
  <dcterms:created xsi:type="dcterms:W3CDTF">2026-04-18T04:49:18Z</dcterms:created>
  <dcterms:modified xsi:type="dcterms:W3CDTF">2026-04-18T08:12:05Z</dcterms:modified>
</cp:coreProperties>
</file>